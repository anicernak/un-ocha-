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5" r:id="rId3"/>
    <p:sldId id="258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5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E63699-EED3-4489-A524-F422E9491477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AAE946F-7FC4-4DA4-B338-F2170E13F21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decidedly NO black-box decision models</a:t>
          </a:r>
          <a:endParaRPr lang="en-US" dirty="0"/>
        </a:p>
      </dgm:t>
    </dgm:pt>
    <dgm:pt modelId="{BC1A98E0-D26D-4441-A1C8-76AFF42DDE9B}" type="parTrans" cxnId="{B274D97F-BC03-4AF7-930A-E912FA8F3F08}">
      <dgm:prSet/>
      <dgm:spPr/>
      <dgm:t>
        <a:bodyPr/>
        <a:lstStyle/>
        <a:p>
          <a:endParaRPr lang="en-US"/>
        </a:p>
      </dgm:t>
    </dgm:pt>
    <dgm:pt modelId="{8E4F2862-DA2E-4BC7-8896-D5DA845D9AF6}" type="sibTrans" cxnId="{B274D97F-BC03-4AF7-930A-E912FA8F3F08}">
      <dgm:prSet/>
      <dgm:spPr/>
      <dgm:t>
        <a:bodyPr/>
        <a:lstStyle/>
        <a:p>
          <a:endParaRPr lang="en-US"/>
        </a:p>
      </dgm:t>
    </dgm:pt>
    <dgm:pt modelId="{59F8BE30-D157-4AE2-9D1B-8A4937170D7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Info Buttons reveal math, assumptions, and source</a:t>
          </a:r>
          <a:endParaRPr lang="en-US" dirty="0"/>
        </a:p>
      </dgm:t>
    </dgm:pt>
    <dgm:pt modelId="{5D1FAA11-EE08-4E9B-BC98-311592915C99}" type="parTrans" cxnId="{CFC8DEB9-E398-422F-8D36-C5A86EB08C36}">
      <dgm:prSet/>
      <dgm:spPr/>
      <dgm:t>
        <a:bodyPr/>
        <a:lstStyle/>
        <a:p>
          <a:endParaRPr lang="en-US"/>
        </a:p>
      </dgm:t>
    </dgm:pt>
    <dgm:pt modelId="{8993DB69-9473-4A43-B6A6-DF26F7561A49}" type="sibTrans" cxnId="{CFC8DEB9-E398-422F-8D36-C5A86EB08C36}">
      <dgm:prSet/>
      <dgm:spPr/>
      <dgm:t>
        <a:bodyPr/>
        <a:lstStyle/>
        <a:p>
          <a:endParaRPr lang="en-US"/>
        </a:p>
      </dgm:t>
    </dgm:pt>
    <dgm:pt modelId="{4DA83C24-2408-4941-A242-B481F0F0A7B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Speed up, dont replace</a:t>
          </a:r>
          <a:endParaRPr lang="en-US"/>
        </a:p>
      </dgm:t>
    </dgm:pt>
    <dgm:pt modelId="{FBA76291-E674-4068-9011-F312246CD51C}" type="parTrans" cxnId="{1B0ACB56-03C6-41FE-A76E-C273210EA7C5}">
      <dgm:prSet/>
      <dgm:spPr/>
      <dgm:t>
        <a:bodyPr/>
        <a:lstStyle/>
        <a:p>
          <a:endParaRPr lang="en-US"/>
        </a:p>
      </dgm:t>
    </dgm:pt>
    <dgm:pt modelId="{22780FED-1817-4B3A-8E35-4CAA5A914E9D}" type="sibTrans" cxnId="{1B0ACB56-03C6-41FE-A76E-C273210EA7C5}">
      <dgm:prSet/>
      <dgm:spPr/>
      <dgm:t>
        <a:bodyPr/>
        <a:lstStyle/>
        <a:p>
          <a:endParaRPr lang="en-US"/>
        </a:p>
      </dgm:t>
    </dgm:pt>
    <dgm:pt modelId="{EF36DA8B-A4D1-4358-9DC7-811978031F7B}" type="pres">
      <dgm:prSet presAssocID="{6BE63699-EED3-4489-A524-F422E9491477}" presName="root" presStyleCnt="0">
        <dgm:presLayoutVars>
          <dgm:dir/>
          <dgm:resizeHandles val="exact"/>
        </dgm:presLayoutVars>
      </dgm:prSet>
      <dgm:spPr/>
    </dgm:pt>
    <dgm:pt modelId="{0A7F24C9-140B-4942-B5ED-BC360EFAE322}" type="pres">
      <dgm:prSet presAssocID="{BAAE946F-7FC4-4DA4-B338-F2170E13F21C}" presName="compNode" presStyleCnt="0"/>
      <dgm:spPr/>
    </dgm:pt>
    <dgm:pt modelId="{0025C9EE-CE0C-4366-AD6B-C7B3577CCE57}" type="pres">
      <dgm:prSet presAssocID="{BAAE946F-7FC4-4DA4-B338-F2170E13F21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D05BC4DB-D7A2-4962-8651-E5031B0ACB18}" type="pres">
      <dgm:prSet presAssocID="{BAAE946F-7FC4-4DA4-B338-F2170E13F21C}" presName="spaceRect" presStyleCnt="0"/>
      <dgm:spPr/>
    </dgm:pt>
    <dgm:pt modelId="{BFADCAED-0154-4DA3-9D34-64DF8A90DAB0}" type="pres">
      <dgm:prSet presAssocID="{BAAE946F-7FC4-4DA4-B338-F2170E13F21C}" presName="textRect" presStyleLbl="revTx" presStyleIdx="0" presStyleCnt="3">
        <dgm:presLayoutVars>
          <dgm:chMax val="1"/>
          <dgm:chPref val="1"/>
        </dgm:presLayoutVars>
      </dgm:prSet>
      <dgm:spPr/>
    </dgm:pt>
    <dgm:pt modelId="{39BF2C12-2ED4-4AA7-B864-993F122A228B}" type="pres">
      <dgm:prSet presAssocID="{8E4F2862-DA2E-4BC7-8896-D5DA845D9AF6}" presName="sibTrans" presStyleCnt="0"/>
      <dgm:spPr/>
    </dgm:pt>
    <dgm:pt modelId="{66706D28-8CE4-4657-B21F-D82C33576340}" type="pres">
      <dgm:prSet presAssocID="{59F8BE30-D157-4AE2-9D1B-8A4937170D72}" presName="compNode" presStyleCnt="0"/>
      <dgm:spPr/>
    </dgm:pt>
    <dgm:pt modelId="{2F5F21E5-CCFA-4625-9F10-09FF98000FD8}" type="pres">
      <dgm:prSet presAssocID="{59F8BE30-D157-4AE2-9D1B-8A4937170D7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2B30F938-941F-4B73-9A11-4F36D5E75C2A}" type="pres">
      <dgm:prSet presAssocID="{59F8BE30-D157-4AE2-9D1B-8A4937170D72}" presName="spaceRect" presStyleCnt="0"/>
      <dgm:spPr/>
    </dgm:pt>
    <dgm:pt modelId="{57380FAC-CB84-4ED9-868D-FFB3A1A23261}" type="pres">
      <dgm:prSet presAssocID="{59F8BE30-D157-4AE2-9D1B-8A4937170D72}" presName="textRect" presStyleLbl="revTx" presStyleIdx="1" presStyleCnt="3">
        <dgm:presLayoutVars>
          <dgm:chMax val="1"/>
          <dgm:chPref val="1"/>
        </dgm:presLayoutVars>
      </dgm:prSet>
      <dgm:spPr/>
    </dgm:pt>
    <dgm:pt modelId="{F981E4E5-5CD5-45F1-A815-289C47E402BE}" type="pres">
      <dgm:prSet presAssocID="{8993DB69-9473-4A43-B6A6-DF26F7561A49}" presName="sibTrans" presStyleCnt="0"/>
      <dgm:spPr/>
    </dgm:pt>
    <dgm:pt modelId="{5642F478-CFBD-49A0-B0B3-8936E773B6F3}" type="pres">
      <dgm:prSet presAssocID="{4DA83C24-2408-4941-A242-B481F0F0A7BA}" presName="compNode" presStyleCnt="0"/>
      <dgm:spPr/>
    </dgm:pt>
    <dgm:pt modelId="{89B69450-BBF4-451E-934A-0D34095F116E}" type="pres">
      <dgm:prSet presAssocID="{4DA83C24-2408-4941-A242-B481F0F0A7B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3497DA6B-112F-4720-8AA2-DC3C04583F63}" type="pres">
      <dgm:prSet presAssocID="{4DA83C24-2408-4941-A242-B481F0F0A7BA}" presName="spaceRect" presStyleCnt="0"/>
      <dgm:spPr/>
    </dgm:pt>
    <dgm:pt modelId="{857D6AF2-4865-4132-812A-BB9A99987FF4}" type="pres">
      <dgm:prSet presAssocID="{4DA83C24-2408-4941-A242-B481F0F0A7B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6541C5F-901C-45B8-8144-617C2925D1B6}" type="presOf" srcId="{59F8BE30-D157-4AE2-9D1B-8A4937170D72}" destId="{57380FAC-CB84-4ED9-868D-FFB3A1A23261}" srcOrd="0" destOrd="0" presId="urn:microsoft.com/office/officeart/2018/2/layout/IconLabelList"/>
    <dgm:cxn modelId="{1EFEC475-B39E-4F75-9D64-B5507F5588A0}" type="presOf" srcId="{BAAE946F-7FC4-4DA4-B338-F2170E13F21C}" destId="{BFADCAED-0154-4DA3-9D34-64DF8A90DAB0}" srcOrd="0" destOrd="0" presId="urn:microsoft.com/office/officeart/2018/2/layout/IconLabelList"/>
    <dgm:cxn modelId="{1B0ACB56-03C6-41FE-A76E-C273210EA7C5}" srcId="{6BE63699-EED3-4489-A524-F422E9491477}" destId="{4DA83C24-2408-4941-A242-B481F0F0A7BA}" srcOrd="2" destOrd="0" parTransId="{FBA76291-E674-4068-9011-F312246CD51C}" sibTransId="{22780FED-1817-4B3A-8E35-4CAA5A914E9D}"/>
    <dgm:cxn modelId="{B274D97F-BC03-4AF7-930A-E912FA8F3F08}" srcId="{6BE63699-EED3-4489-A524-F422E9491477}" destId="{BAAE946F-7FC4-4DA4-B338-F2170E13F21C}" srcOrd="0" destOrd="0" parTransId="{BC1A98E0-D26D-4441-A1C8-76AFF42DDE9B}" sibTransId="{8E4F2862-DA2E-4BC7-8896-D5DA845D9AF6}"/>
    <dgm:cxn modelId="{1F7C5F92-61E0-46FB-B586-F3069C555D32}" type="presOf" srcId="{6BE63699-EED3-4489-A524-F422E9491477}" destId="{EF36DA8B-A4D1-4358-9DC7-811978031F7B}" srcOrd="0" destOrd="0" presId="urn:microsoft.com/office/officeart/2018/2/layout/IconLabelList"/>
    <dgm:cxn modelId="{CFC8DEB9-E398-422F-8D36-C5A86EB08C36}" srcId="{6BE63699-EED3-4489-A524-F422E9491477}" destId="{59F8BE30-D157-4AE2-9D1B-8A4937170D72}" srcOrd="1" destOrd="0" parTransId="{5D1FAA11-EE08-4E9B-BC98-311592915C99}" sibTransId="{8993DB69-9473-4A43-B6A6-DF26F7561A49}"/>
    <dgm:cxn modelId="{212950FE-6FB4-4766-8EB1-2868EBBB3ECE}" type="presOf" srcId="{4DA83C24-2408-4941-A242-B481F0F0A7BA}" destId="{857D6AF2-4865-4132-812A-BB9A99987FF4}" srcOrd="0" destOrd="0" presId="urn:microsoft.com/office/officeart/2018/2/layout/IconLabelList"/>
    <dgm:cxn modelId="{A2DF0CB2-7384-4919-871D-ECAAB83D831A}" type="presParOf" srcId="{EF36DA8B-A4D1-4358-9DC7-811978031F7B}" destId="{0A7F24C9-140B-4942-B5ED-BC360EFAE322}" srcOrd="0" destOrd="0" presId="urn:microsoft.com/office/officeart/2018/2/layout/IconLabelList"/>
    <dgm:cxn modelId="{EB05CB38-417E-40A8-BAF6-6CD2235EA724}" type="presParOf" srcId="{0A7F24C9-140B-4942-B5ED-BC360EFAE322}" destId="{0025C9EE-CE0C-4366-AD6B-C7B3577CCE57}" srcOrd="0" destOrd="0" presId="urn:microsoft.com/office/officeart/2018/2/layout/IconLabelList"/>
    <dgm:cxn modelId="{D44C922B-899D-42B5-B6AB-129EA37969AD}" type="presParOf" srcId="{0A7F24C9-140B-4942-B5ED-BC360EFAE322}" destId="{D05BC4DB-D7A2-4962-8651-E5031B0ACB18}" srcOrd="1" destOrd="0" presId="urn:microsoft.com/office/officeart/2018/2/layout/IconLabelList"/>
    <dgm:cxn modelId="{09A82D4F-2BB2-48D3-9D7F-1DE356F91B88}" type="presParOf" srcId="{0A7F24C9-140B-4942-B5ED-BC360EFAE322}" destId="{BFADCAED-0154-4DA3-9D34-64DF8A90DAB0}" srcOrd="2" destOrd="0" presId="urn:microsoft.com/office/officeart/2018/2/layout/IconLabelList"/>
    <dgm:cxn modelId="{411FF55F-1636-469D-BC8A-CBFA140982C5}" type="presParOf" srcId="{EF36DA8B-A4D1-4358-9DC7-811978031F7B}" destId="{39BF2C12-2ED4-4AA7-B864-993F122A228B}" srcOrd="1" destOrd="0" presId="urn:microsoft.com/office/officeart/2018/2/layout/IconLabelList"/>
    <dgm:cxn modelId="{FC0432E3-FF56-4088-B250-C804AD453009}" type="presParOf" srcId="{EF36DA8B-A4D1-4358-9DC7-811978031F7B}" destId="{66706D28-8CE4-4657-B21F-D82C33576340}" srcOrd="2" destOrd="0" presId="urn:microsoft.com/office/officeart/2018/2/layout/IconLabelList"/>
    <dgm:cxn modelId="{5C0B2CC7-7AFF-41B0-98DE-5D18FA385E9A}" type="presParOf" srcId="{66706D28-8CE4-4657-B21F-D82C33576340}" destId="{2F5F21E5-CCFA-4625-9F10-09FF98000FD8}" srcOrd="0" destOrd="0" presId="urn:microsoft.com/office/officeart/2018/2/layout/IconLabelList"/>
    <dgm:cxn modelId="{41C1E542-7473-4E6A-8E35-6A86551A23B8}" type="presParOf" srcId="{66706D28-8CE4-4657-B21F-D82C33576340}" destId="{2B30F938-941F-4B73-9A11-4F36D5E75C2A}" srcOrd="1" destOrd="0" presId="urn:microsoft.com/office/officeart/2018/2/layout/IconLabelList"/>
    <dgm:cxn modelId="{B73B5B9A-1DBF-4619-803D-4C3F287D951B}" type="presParOf" srcId="{66706D28-8CE4-4657-B21F-D82C33576340}" destId="{57380FAC-CB84-4ED9-868D-FFB3A1A23261}" srcOrd="2" destOrd="0" presId="urn:microsoft.com/office/officeart/2018/2/layout/IconLabelList"/>
    <dgm:cxn modelId="{F198E93B-674E-4E18-916C-5020508BB842}" type="presParOf" srcId="{EF36DA8B-A4D1-4358-9DC7-811978031F7B}" destId="{F981E4E5-5CD5-45F1-A815-289C47E402BE}" srcOrd="3" destOrd="0" presId="urn:microsoft.com/office/officeart/2018/2/layout/IconLabelList"/>
    <dgm:cxn modelId="{1EE9ED0F-D824-4D50-8C97-6EE9A267255A}" type="presParOf" srcId="{EF36DA8B-A4D1-4358-9DC7-811978031F7B}" destId="{5642F478-CFBD-49A0-B0B3-8936E773B6F3}" srcOrd="4" destOrd="0" presId="urn:microsoft.com/office/officeart/2018/2/layout/IconLabelList"/>
    <dgm:cxn modelId="{B8765DCE-8A00-4C58-ACA3-161FA9087EC7}" type="presParOf" srcId="{5642F478-CFBD-49A0-B0B3-8936E773B6F3}" destId="{89B69450-BBF4-451E-934A-0D34095F116E}" srcOrd="0" destOrd="0" presId="urn:microsoft.com/office/officeart/2018/2/layout/IconLabelList"/>
    <dgm:cxn modelId="{DFE5A5AB-7D14-4ADC-9B7B-F227586A9FC9}" type="presParOf" srcId="{5642F478-CFBD-49A0-B0B3-8936E773B6F3}" destId="{3497DA6B-112F-4720-8AA2-DC3C04583F63}" srcOrd="1" destOrd="0" presId="urn:microsoft.com/office/officeart/2018/2/layout/IconLabelList"/>
    <dgm:cxn modelId="{E73356BE-D996-4623-AF14-E7C70F8BF835}" type="presParOf" srcId="{5642F478-CFBD-49A0-B0B3-8936E773B6F3}" destId="{857D6AF2-4865-4132-812A-BB9A99987FF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25C9EE-CE0C-4366-AD6B-C7B3577CCE57}">
      <dsp:nvSpPr>
        <dsp:cNvPr id="0" name=""/>
        <dsp:cNvSpPr/>
      </dsp:nvSpPr>
      <dsp:spPr>
        <a:xfrm>
          <a:off x="1214220" y="980425"/>
          <a:ext cx="1300538" cy="13005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ADCAED-0154-4DA3-9D34-64DF8A90DAB0}">
      <dsp:nvSpPr>
        <dsp:cNvPr id="0" name=""/>
        <dsp:cNvSpPr/>
      </dsp:nvSpPr>
      <dsp:spPr>
        <a:xfrm>
          <a:off x="419447" y="2637577"/>
          <a:ext cx="289008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decidedly NO black-box decision models</a:t>
          </a:r>
          <a:endParaRPr lang="en-US" sz="2200" kern="1200" dirty="0"/>
        </a:p>
      </dsp:txBody>
      <dsp:txXfrm>
        <a:off x="419447" y="2637577"/>
        <a:ext cx="2890085" cy="720000"/>
      </dsp:txXfrm>
    </dsp:sp>
    <dsp:sp modelId="{2F5F21E5-CCFA-4625-9F10-09FF98000FD8}">
      <dsp:nvSpPr>
        <dsp:cNvPr id="0" name=""/>
        <dsp:cNvSpPr/>
      </dsp:nvSpPr>
      <dsp:spPr>
        <a:xfrm>
          <a:off x="4610070" y="980425"/>
          <a:ext cx="1300538" cy="13005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380FAC-CB84-4ED9-868D-FFB3A1A23261}">
      <dsp:nvSpPr>
        <dsp:cNvPr id="0" name=""/>
        <dsp:cNvSpPr/>
      </dsp:nvSpPr>
      <dsp:spPr>
        <a:xfrm>
          <a:off x="3815297" y="2637577"/>
          <a:ext cx="289008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Info Buttons reveal math, assumptions, and source</a:t>
          </a:r>
          <a:endParaRPr lang="en-US" sz="2200" kern="1200" dirty="0"/>
        </a:p>
      </dsp:txBody>
      <dsp:txXfrm>
        <a:off x="3815297" y="2637577"/>
        <a:ext cx="2890085" cy="720000"/>
      </dsp:txXfrm>
    </dsp:sp>
    <dsp:sp modelId="{89B69450-BBF4-451E-934A-0D34095F116E}">
      <dsp:nvSpPr>
        <dsp:cNvPr id="0" name=""/>
        <dsp:cNvSpPr/>
      </dsp:nvSpPr>
      <dsp:spPr>
        <a:xfrm>
          <a:off x="8005920" y="980425"/>
          <a:ext cx="1300538" cy="13005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7D6AF2-4865-4132-812A-BB9A99987FF4}">
      <dsp:nvSpPr>
        <dsp:cNvPr id="0" name=""/>
        <dsp:cNvSpPr/>
      </dsp:nvSpPr>
      <dsp:spPr>
        <a:xfrm>
          <a:off x="7211147" y="2637577"/>
          <a:ext cx="289008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Speed up, dont replace</a:t>
          </a:r>
          <a:endParaRPr lang="en-US" sz="2200" kern="1200"/>
        </a:p>
      </dsp:txBody>
      <dsp:txXfrm>
        <a:off x="7211147" y="2637577"/>
        <a:ext cx="2890085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1A679-FC00-4148-92E9-64191BB51B83}" type="datetimeFigureOut">
              <a:rPr lang="en-CH" smtClean="0"/>
              <a:t>19/04/2026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8EFB4-B7B4-40AB-9BBE-1808B03A66C1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74631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1A679-FC00-4148-92E9-64191BB51B83}" type="datetimeFigureOut">
              <a:rPr lang="en-CH" smtClean="0"/>
              <a:t>19/04/2026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8EFB4-B7B4-40AB-9BBE-1808B03A66C1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67199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1A679-FC00-4148-92E9-64191BB51B83}" type="datetimeFigureOut">
              <a:rPr lang="en-CH" smtClean="0"/>
              <a:t>19/04/2026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8EFB4-B7B4-40AB-9BBE-1808B03A66C1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13484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1A679-FC00-4148-92E9-64191BB51B83}" type="datetimeFigureOut">
              <a:rPr lang="en-CH" smtClean="0"/>
              <a:t>19/04/2026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8EFB4-B7B4-40AB-9BBE-1808B03A66C1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88315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1A679-FC00-4148-92E9-64191BB51B83}" type="datetimeFigureOut">
              <a:rPr lang="en-CH" smtClean="0"/>
              <a:t>19/04/2026</a:t>
            </a:fld>
            <a:endParaRPr lang="en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8EFB4-B7B4-40AB-9BBE-1808B03A66C1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55854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1A679-FC00-4148-92E9-64191BB51B83}" type="datetimeFigureOut">
              <a:rPr lang="en-CH" smtClean="0"/>
              <a:t>19/04/2026</a:t>
            </a:fld>
            <a:endParaRPr lang="en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8EFB4-B7B4-40AB-9BBE-1808B03A66C1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33217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1A679-FC00-4148-92E9-64191BB51B83}" type="datetimeFigureOut">
              <a:rPr lang="en-CH" smtClean="0"/>
              <a:t>19/04/2026</a:t>
            </a:fld>
            <a:endParaRPr lang="en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8EFB4-B7B4-40AB-9BBE-1808B03A66C1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25379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1A679-FC00-4148-92E9-64191BB51B83}" type="datetimeFigureOut">
              <a:rPr lang="en-CH" smtClean="0"/>
              <a:t>19/04/2026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8EFB4-B7B4-40AB-9BBE-1808B03A66C1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71089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1A679-FC00-4148-92E9-64191BB51B83}" type="datetimeFigureOut">
              <a:rPr lang="en-CH" smtClean="0"/>
              <a:t>19/04/2026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8EFB4-B7B4-40AB-9BBE-1808B03A66C1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89748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1A679-FC00-4148-92E9-64191BB51B83}" type="datetimeFigureOut">
              <a:rPr lang="en-CH" smtClean="0"/>
              <a:t>19/04/2026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8EFB4-B7B4-40AB-9BBE-1808B03A66C1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29990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1A679-FC00-4148-92E9-64191BB51B83}" type="datetimeFigureOut">
              <a:rPr lang="en-CH" smtClean="0"/>
              <a:t>19/04/2026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8EFB4-B7B4-40AB-9BBE-1808B03A66C1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37504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1A679-FC00-4148-92E9-64191BB51B83}" type="datetimeFigureOut">
              <a:rPr lang="en-CH" smtClean="0"/>
              <a:t>19/04/2026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8EFB4-B7B4-40AB-9BBE-1808B03A66C1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964221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7BC235-286F-4187-AFCD-BC9463DDF8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44556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EB77E8-3B73-DDF6-691A-F040130F2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GB" sz="3700" dirty="0">
                <a:solidFill>
                  <a:schemeClr val="bg1"/>
                </a:solidFill>
                <a:latin typeface="Arial Black" panose="020B0A040201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Geo-Insight: The Humanitarian Gap </a:t>
            </a:r>
            <a:r>
              <a:rPr lang="en-GB" sz="3700" dirty="0">
                <a:solidFill>
                  <a:srgbClr val="0070C0"/>
                </a:solidFill>
                <a:latin typeface="Arial Black" panose="020B0A040201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Analyzer</a:t>
            </a:r>
            <a:endParaRPr lang="en-CH" sz="3700" dirty="0">
              <a:solidFill>
                <a:srgbClr val="0070C0"/>
              </a:solidFill>
              <a:latin typeface="Arial Black" panose="020B0A04020102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669F9-D2A3-009B-769E-B78DEC209F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GB" sz="2000">
                <a:solidFill>
                  <a:schemeClr val="bg1"/>
                </a:solidFill>
              </a:rPr>
              <a:t>Empowering Human Judgment through Transparent Analytics</a:t>
            </a:r>
          </a:p>
          <a:p>
            <a:pPr algn="l"/>
            <a:endParaRPr lang="en-CH" sz="200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86348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063A0-CA2C-AE9D-5F22-49AE5947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77739"/>
            <a:ext cx="3418990" cy="1412119"/>
          </a:xfrm>
        </p:spPr>
        <p:txBody>
          <a:bodyPr>
            <a:normAutofit/>
          </a:bodyPr>
          <a:lstStyle/>
          <a:p>
            <a:r>
              <a:rPr lang="en-GB" sz="4800" dirty="0">
                <a:solidFill>
                  <a:srgbClr val="0070C0"/>
                </a:solidFill>
                <a:latin typeface="Arial Black" panose="020B0A04020102020204" pitchFamily="34" charset="0"/>
              </a:rPr>
              <a:t>The Stakes</a:t>
            </a:r>
            <a:endParaRPr lang="en-CH" sz="4800" dirty="0">
              <a:solidFill>
                <a:srgbClr val="0070C0"/>
              </a:solidFill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081C1C1-4BC0-DB61-4FA9-0707F1D43E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050"/>
          <a:stretch>
            <a:fillRect/>
          </a:stretch>
        </p:blipFill>
        <p:spPr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onnsiteX0" fmla="*/ 0 w 1371600"/>
              <a:gd name="connsiteY0" fmla="*/ 0 h 18288"/>
              <a:gd name="connsiteX1" fmla="*/ 685800 w 1371600"/>
              <a:gd name="connsiteY1" fmla="*/ 0 h 18288"/>
              <a:gd name="connsiteX2" fmla="*/ 1371600 w 1371600"/>
              <a:gd name="connsiteY2" fmla="*/ 0 h 18288"/>
              <a:gd name="connsiteX3" fmla="*/ 1371600 w 1371600"/>
              <a:gd name="connsiteY3" fmla="*/ 18288 h 18288"/>
              <a:gd name="connsiteX4" fmla="*/ 713232 w 1371600"/>
              <a:gd name="connsiteY4" fmla="*/ 18288 h 18288"/>
              <a:gd name="connsiteX5" fmla="*/ 0 w 1371600"/>
              <a:gd name="connsiteY5" fmla="*/ 18288 h 18288"/>
              <a:gd name="connsiteX6" fmla="*/ 0 w 1371600"/>
              <a:gd name="connsiteY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459D-D3CC-E359-3D29-AB7E9A5CD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4" y="4777739"/>
            <a:ext cx="6897626" cy="1399223"/>
          </a:xfrm>
        </p:spPr>
        <p:txBody>
          <a:bodyPr anchor="ctr">
            <a:normAutofit/>
          </a:bodyPr>
          <a:lstStyle/>
          <a:p>
            <a:r>
              <a:rPr lang="en-GB" sz="2200"/>
              <a:t>Human lives behind the data</a:t>
            </a:r>
          </a:p>
          <a:p>
            <a:r>
              <a:rPr lang="en-GB" sz="2200"/>
              <a:t>Black-box AI risks</a:t>
            </a:r>
          </a:p>
          <a:p>
            <a:r>
              <a:rPr lang="en-GB" sz="2200"/>
              <a:t>Public funding reputation</a:t>
            </a:r>
            <a:endParaRPr lang="en-CH" sz="2200"/>
          </a:p>
          <a:p>
            <a:endParaRPr lang="en-CH" sz="2200"/>
          </a:p>
        </p:txBody>
      </p:sp>
    </p:spTree>
    <p:extLst>
      <p:ext uri="{BB962C8B-B14F-4D97-AF65-F5344CB8AC3E}">
        <p14:creationId xmlns:p14="http://schemas.microsoft.com/office/powerpoint/2010/main" val="1856219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0B953-6028-5AB7-6229-9DDE4825C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>
                <a:latin typeface="Arial Black" panose="020B0A04020102020204" pitchFamily="34" charset="0"/>
              </a:rPr>
              <a:t>The </a:t>
            </a:r>
            <a:r>
              <a:rPr lang="en-GB">
                <a:solidFill>
                  <a:srgbClr val="0070C0"/>
                </a:solidFill>
                <a:latin typeface="Arial Black" panose="020B0A04020102020204" pitchFamily="34" charset="0"/>
              </a:rPr>
              <a:t>Glass Box: </a:t>
            </a:r>
            <a:r>
              <a:rPr lang="en-GB">
                <a:latin typeface="Arial Black" panose="020B0A04020102020204" pitchFamily="34" charset="0"/>
              </a:rPr>
              <a:t>Automate Understanding, not decisions</a:t>
            </a:r>
            <a:endParaRPr lang="en-CH" dirty="0">
              <a:latin typeface="Arial Black" panose="020B0A04020102020204" pitchFamily="34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303A2D-74CD-198F-C8D1-0C75F795FD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7177730"/>
              </p:ext>
            </p:extLst>
          </p:nvPr>
        </p:nvGraphicFramePr>
        <p:xfrm>
          <a:off x="833120" y="1838959"/>
          <a:ext cx="10520680" cy="43380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8680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5D7A1-4560-88EB-0FFA-21150B71A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solidFill>
                  <a:srgbClr val="0070C0"/>
                </a:solidFill>
                <a:latin typeface="Arial Black" panose="020B0A04020102020204" pitchFamily="34" charset="0"/>
              </a:rPr>
              <a:t>WMI</a:t>
            </a:r>
            <a:r>
              <a:rPr lang="en-GB" dirty="0">
                <a:latin typeface="Arial Black" panose="020B0A04020102020204" pitchFamily="34" charset="0"/>
              </a:rPr>
              <a:t> &amp; Smart Imputation</a:t>
            </a:r>
            <a:endParaRPr lang="en-CH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36670E-53D3-B52C-DEAA-FC20A2E333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- 15 months of OCHA, FTS, and HNO data</a:t>
                </a:r>
              </a:p>
              <a:p>
                <a:pPr>
                  <a:buFontTx/>
                  <a:buChar char="-"/>
                </a:pPr>
                <a:endParaRPr lang="en-GB" dirty="0"/>
              </a:p>
              <a:p>
                <a:r>
                  <a:rPr lang="en-GB" dirty="0"/>
                  <a:t>Random Forest Imputation: Filling the missing data gaps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>
                  <a:buFontTx/>
                  <a:buChar char="-"/>
                </a:pPr>
                <a:r>
                  <a:rPr lang="en-GB" sz="2800" dirty="0"/>
                  <a:t> Weighted Mismatch Index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=0.3⋅</m:t>
                      </m:r>
                      <m:r>
                        <m:rPr>
                          <m:nor/>
                        </m:rPr>
                        <a:rPr lang="en-GB" i="0">
                          <a:latin typeface="Cambria Math" panose="02040503050406030204" pitchFamily="18" charset="0"/>
                        </a:rPr>
                        <m:t>Severity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+0.3⋅</m:t>
                      </m:r>
                      <m:r>
                        <m:rPr>
                          <m:nor/>
                        </m:rPr>
                        <a:rPr lang="en-GB" i="0">
                          <a:latin typeface="Cambria Math" panose="02040503050406030204" pitchFamily="18" charset="0"/>
                        </a:rPr>
                        <m:t>Need</m:t>
                      </m:r>
                      <m:r>
                        <m:rPr>
                          <m:nor/>
                        </m:rPr>
                        <a:rPr lang="en-GB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i="0">
                          <a:latin typeface="Cambria Math" panose="02040503050406030204" pitchFamily="18" charset="0"/>
                        </a:rPr>
                        <m:t>Density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+0.3⋅</m:t>
                      </m:r>
                      <m:r>
                        <m:rPr>
                          <m:nor/>
                        </m:rPr>
                        <a:rPr lang="en-GB" i="0">
                          <a:latin typeface="Cambria Math" panose="02040503050406030204" pitchFamily="18" charset="0"/>
                        </a:rPr>
                        <m:t>Funding</m:t>
                      </m:r>
                      <m:r>
                        <m:rPr>
                          <m:nor/>
                        </m:rPr>
                        <a:rPr lang="en-GB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i="0">
                          <a:latin typeface="Cambria Math" panose="02040503050406030204" pitchFamily="18" charset="0"/>
                        </a:rPr>
                        <m:t>Gap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+0.1⋅</m:t>
                      </m:r>
                      <m:r>
                        <m:rPr>
                          <m:nor/>
                        </m:rPr>
                        <a:rPr lang="en-GB" i="0">
                          <a:latin typeface="Cambria Math" panose="02040503050406030204" pitchFamily="18" charset="0"/>
                        </a:rPr>
                        <m:t>Complexity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CH" dirty="0"/>
              </a:p>
              <a:p>
                <a:pPr>
                  <a:buFontTx/>
                  <a:buChar char="-"/>
                </a:pPr>
                <a:endParaRPr lang="en-GB" sz="2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36670E-53D3-B52C-DEAA-FC20A2E333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9178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159E1-7E22-3C24-5FD4-8AC9E7731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Real-World </a:t>
            </a:r>
            <a:r>
              <a:rPr lang="en-GB" dirty="0">
                <a:solidFill>
                  <a:srgbClr val="0070C0"/>
                </a:solidFill>
                <a:latin typeface="Arial Black" panose="020B0A04020102020204" pitchFamily="34" charset="0"/>
              </a:rPr>
              <a:t>Impact</a:t>
            </a:r>
            <a:r>
              <a:rPr lang="en-GB" dirty="0">
                <a:latin typeface="Arial Black" panose="020B0A04020102020204" pitchFamily="34" charset="0"/>
              </a:rPr>
              <a:t> &amp; Prototype</a:t>
            </a:r>
            <a:endParaRPr lang="en-CH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41335-5B26-D4C0-1EB3-9DDE6DFED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Arial Black" panose="020B0A04020102020204" pitchFamily="34" charset="0"/>
              </a:rPr>
              <a:t>Technical Stack:</a:t>
            </a:r>
          </a:p>
          <a:p>
            <a:r>
              <a:rPr lang="en-GB" dirty="0"/>
              <a:t>Next.js 16</a:t>
            </a:r>
          </a:p>
          <a:p>
            <a:r>
              <a:rPr lang="en-GB" dirty="0"/>
              <a:t>SVG Heatmaps</a:t>
            </a:r>
          </a:p>
          <a:p>
            <a:r>
              <a:rPr lang="en-GB" dirty="0" err="1"/>
              <a:t>Vercel</a:t>
            </a:r>
            <a:r>
              <a:rPr lang="en-GB" dirty="0"/>
              <a:t> Serverless</a:t>
            </a:r>
          </a:p>
          <a:p>
            <a:r>
              <a:rPr lang="en-GB" dirty="0"/>
              <a:t>Rich Tooltips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188462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23F19-203D-1705-0487-1AC17090D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Conclusion</a:t>
            </a:r>
            <a:endParaRPr lang="en-CH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66E36-9D34-EE2B-3B3E-36C1EF497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21815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/>
              <a:t>Transparency saves lives. </a:t>
            </a:r>
          </a:p>
          <a:p>
            <a:pPr marL="0" indent="0" algn="ctr">
              <a:buNone/>
            </a:pPr>
            <a:r>
              <a:rPr lang="en-GB" dirty="0"/>
              <a:t>Our tool makes the UN act faster and smarter.</a:t>
            </a:r>
          </a:p>
        </p:txBody>
      </p:sp>
    </p:spTree>
    <p:extLst>
      <p:ext uri="{BB962C8B-B14F-4D97-AF65-F5344CB8AC3E}">
        <p14:creationId xmlns:p14="http://schemas.microsoft.com/office/powerpoint/2010/main" val="4116426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131</Words>
  <Application>Microsoft Office PowerPoint</Application>
  <PresentationFormat>Widescreen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Cambria Math</vt:lpstr>
      <vt:lpstr>Office Theme</vt:lpstr>
      <vt:lpstr>Geo-Insight: The Humanitarian Gap Analyzer</vt:lpstr>
      <vt:lpstr>The Stakes</vt:lpstr>
      <vt:lpstr>The Glass Box: Automate Understanding, not decisions</vt:lpstr>
      <vt:lpstr>WMI &amp; Smart Imputation</vt:lpstr>
      <vt:lpstr>Real-World Impact &amp; Prototype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Geo-Insight: The Humanitarian Gap Analyzer</dc:title>
  <dc:creator>Max Bach</dc:creator>
  <cp:lastModifiedBy>Max Bach</cp:lastModifiedBy>
  <cp:revision>2</cp:revision>
  <dcterms:created xsi:type="dcterms:W3CDTF">2026-04-19T08:16:02Z</dcterms:created>
  <dcterms:modified xsi:type="dcterms:W3CDTF">2026-04-19T09:18:41Z</dcterms:modified>
</cp:coreProperties>
</file>